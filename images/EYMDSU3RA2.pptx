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B78AFD-BA04-4F95-9EC8-7C2AD21C5284}" v="10" dt="2026-03-26T11:26:26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el Rivera" userId="fc7e1a40328662f9" providerId="LiveId" clId="{FB04CF02-191A-4FC8-B492-720210932FDD}"/>
    <pc:docChg chg="undo redo custSel delSld modSld">
      <pc:chgData name="Axel Rivera" userId="fc7e1a40328662f9" providerId="LiveId" clId="{FB04CF02-191A-4FC8-B492-720210932FDD}" dt="2026-03-26T11:28:05.128" v="262" actId="14100"/>
      <pc:docMkLst>
        <pc:docMk/>
      </pc:docMkLst>
      <pc:sldChg chg="addSp delSp modSp mod">
        <pc:chgData name="Axel Rivera" userId="fc7e1a40328662f9" providerId="LiveId" clId="{FB04CF02-191A-4FC8-B492-720210932FDD}" dt="2026-03-26T11:28:05.128" v="262" actId="14100"/>
        <pc:sldMkLst>
          <pc:docMk/>
          <pc:sldMk cId="0" sldId="256"/>
        </pc:sldMkLst>
        <pc:spChg chg="mod">
          <ac:chgData name="Axel Rivera" userId="fc7e1a40328662f9" providerId="LiveId" clId="{FB04CF02-191A-4FC8-B492-720210932FDD}" dt="2026-03-26T11:27:52.093" v="260" actId="113"/>
          <ac:spMkLst>
            <pc:docMk/>
            <pc:sldMk cId="0" sldId="256"/>
            <ac:spMk id="2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7:42.678" v="257" actId="113"/>
          <ac:spMkLst>
            <pc:docMk/>
            <pc:sldMk cId="0" sldId="256"/>
            <ac:spMk id="3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15:57.905" v="46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8:05.128" v="262" actId="14100"/>
          <ac:spMkLst>
            <pc:docMk/>
            <pc:sldMk cId="0" sldId="256"/>
            <ac:spMk id="5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8:00.188" v="261" actId="113"/>
          <ac:spMkLst>
            <pc:docMk/>
            <pc:sldMk cId="0" sldId="256"/>
            <ac:spMk id="6" creationId="{00000000-0000-0000-0000-000000000000}"/>
          </ac:spMkLst>
        </pc:spChg>
        <pc:spChg chg="del">
          <ac:chgData name="Axel Rivera" userId="fc7e1a40328662f9" providerId="LiveId" clId="{FB04CF02-191A-4FC8-B492-720210932FDD}" dt="2026-03-26T11:15:59.570" v="47" actId="478"/>
          <ac:spMkLst>
            <pc:docMk/>
            <pc:sldMk cId="0" sldId="256"/>
            <ac:spMk id="8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16:02.856" v="49" actId="1076"/>
          <ac:spMkLst>
            <pc:docMk/>
            <pc:sldMk cId="0" sldId="256"/>
            <ac:spMk id="9" creationId="{00000000-0000-0000-0000-000000000000}"/>
          </ac:spMkLst>
        </pc:spChg>
        <pc:spChg chg="add del">
          <ac:chgData name="Axel Rivera" userId="fc7e1a40328662f9" providerId="LiveId" clId="{FB04CF02-191A-4FC8-B492-720210932FDD}" dt="2026-03-26T11:14:44.231" v="7" actId="22"/>
          <ac:spMkLst>
            <pc:docMk/>
            <pc:sldMk cId="0" sldId="256"/>
            <ac:spMk id="11" creationId="{60F57B85-C16F-475B-CC75-2F58C3C954B8}"/>
          </ac:spMkLst>
        </pc:spChg>
        <pc:picChg chg="del">
          <ac:chgData name="Axel Rivera" userId="fc7e1a40328662f9" providerId="LiveId" clId="{FB04CF02-191A-4FC8-B492-720210932FDD}" dt="2026-03-26T11:16:00.522" v="48" actId="478"/>
          <ac:picMkLst>
            <pc:docMk/>
            <pc:sldMk cId="0" sldId="256"/>
            <ac:picMk id="7" creationId="{00000000-0000-0000-0000-000000000000}"/>
          </ac:picMkLst>
        </pc:picChg>
      </pc:sldChg>
      <pc:sldChg chg="delSp modSp mod">
        <pc:chgData name="Axel Rivera" userId="fc7e1a40328662f9" providerId="LiveId" clId="{FB04CF02-191A-4FC8-B492-720210932FDD}" dt="2026-03-26T11:18:26.372" v="145" actId="478"/>
        <pc:sldMkLst>
          <pc:docMk/>
          <pc:sldMk cId="0" sldId="257"/>
        </pc:sldMkLst>
        <pc:spChg chg="del mod">
          <ac:chgData name="Axel Rivera" userId="fc7e1a40328662f9" providerId="LiveId" clId="{FB04CF02-191A-4FC8-B492-720210932FDD}" dt="2026-03-26T11:18:26.372" v="145" actId="478"/>
          <ac:spMkLst>
            <pc:docMk/>
            <pc:sldMk cId="0" sldId="257"/>
            <ac:spMk id="22" creationId="{00000000-0000-0000-0000-000000000000}"/>
          </ac:spMkLst>
        </pc:spChg>
        <pc:spChg chg="del mod">
          <ac:chgData name="Axel Rivera" userId="fc7e1a40328662f9" providerId="LiveId" clId="{FB04CF02-191A-4FC8-B492-720210932FDD}" dt="2026-03-26T11:18:16.598" v="142" actId="478"/>
          <ac:spMkLst>
            <pc:docMk/>
            <pc:sldMk cId="0" sldId="257"/>
            <ac:spMk id="23" creationId="{00000000-0000-0000-0000-000000000000}"/>
          </ac:spMkLst>
        </pc:spChg>
      </pc:sldChg>
      <pc:sldChg chg="del">
        <pc:chgData name="Axel Rivera" userId="fc7e1a40328662f9" providerId="LiveId" clId="{FB04CF02-191A-4FC8-B492-720210932FDD}" dt="2026-03-26T11:18:04.953" v="140" actId="2696"/>
        <pc:sldMkLst>
          <pc:docMk/>
          <pc:sldMk cId="0" sldId="258"/>
        </pc:sldMkLst>
      </pc:sldChg>
      <pc:sldChg chg="delSp modSp mod">
        <pc:chgData name="Axel Rivera" userId="fc7e1a40328662f9" providerId="LiveId" clId="{FB04CF02-191A-4FC8-B492-720210932FDD}" dt="2026-03-26T11:21:44.542" v="181" actId="1076"/>
        <pc:sldMkLst>
          <pc:docMk/>
          <pc:sldMk cId="0" sldId="259"/>
        </pc:sldMkLst>
        <pc:spChg chg="mod">
          <ac:chgData name="Axel Rivera" userId="fc7e1a40328662f9" providerId="LiveId" clId="{FB04CF02-191A-4FC8-B492-720210932FDD}" dt="2026-03-26T11:21:44.542" v="181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19:15.420" v="148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19:26.346" v="149" actId="20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0:01.371" v="157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0:12.948" v="158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0:12.948" v="158" actId="107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0:18.937" v="160" actId="107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0:27.435" v="161" actId="107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19:46.776" v="153" actId="1076"/>
          <ac:spMkLst>
            <pc:docMk/>
            <pc:sldMk cId="0" sldId="259"/>
            <ac:spMk id="30" creationId="{00000000-0000-0000-0000-000000000000}"/>
          </ac:spMkLst>
        </pc:spChg>
        <pc:spChg chg="del mod">
          <ac:chgData name="Axel Rivera" userId="fc7e1a40328662f9" providerId="LiveId" clId="{FB04CF02-191A-4FC8-B492-720210932FDD}" dt="2026-03-26T11:21:33.533" v="178" actId="478"/>
          <ac:spMkLst>
            <pc:docMk/>
            <pc:sldMk cId="0" sldId="259"/>
            <ac:spMk id="32" creationId="{00000000-0000-0000-0000-000000000000}"/>
          </ac:spMkLst>
        </pc:spChg>
        <pc:spChg chg="del mod">
          <ac:chgData name="Axel Rivera" userId="fc7e1a40328662f9" providerId="LiveId" clId="{FB04CF02-191A-4FC8-B492-720210932FDD}" dt="2026-03-26T11:21:40.149" v="180" actId="478"/>
          <ac:spMkLst>
            <pc:docMk/>
            <pc:sldMk cId="0" sldId="259"/>
            <ac:spMk id="33" creationId="{00000000-0000-0000-0000-000000000000}"/>
          </ac:spMkLst>
        </pc:spChg>
        <pc:picChg chg="mod">
          <ac:chgData name="Axel Rivera" userId="fc7e1a40328662f9" providerId="LiveId" clId="{FB04CF02-191A-4FC8-B492-720210932FDD}" dt="2026-03-26T11:20:12.948" v="158" actId="1076"/>
          <ac:picMkLst>
            <pc:docMk/>
            <pc:sldMk cId="0" sldId="259"/>
            <ac:picMk id="22" creationId="{00000000-0000-0000-0000-000000000000}"/>
          </ac:picMkLst>
        </pc:picChg>
        <pc:picChg chg="mod">
          <ac:chgData name="Axel Rivera" userId="fc7e1a40328662f9" providerId="LiveId" clId="{FB04CF02-191A-4FC8-B492-720210932FDD}" dt="2026-03-26T11:20:18.937" v="160" actId="1076"/>
          <ac:picMkLst>
            <pc:docMk/>
            <pc:sldMk cId="0" sldId="259"/>
            <ac:picMk id="25" creationId="{00000000-0000-0000-0000-000000000000}"/>
          </ac:picMkLst>
        </pc:picChg>
        <pc:picChg chg="mod">
          <ac:chgData name="Axel Rivera" userId="fc7e1a40328662f9" providerId="LiveId" clId="{FB04CF02-191A-4FC8-B492-720210932FDD}" dt="2026-03-26T11:20:27.435" v="161" actId="1076"/>
          <ac:picMkLst>
            <pc:docMk/>
            <pc:sldMk cId="0" sldId="259"/>
            <ac:picMk id="27" creationId="{00000000-0000-0000-0000-000000000000}"/>
          </ac:picMkLst>
        </pc:picChg>
        <pc:picChg chg="mod">
          <ac:chgData name="Axel Rivera" userId="fc7e1a40328662f9" providerId="LiveId" clId="{FB04CF02-191A-4FC8-B492-720210932FDD}" dt="2026-03-26T11:19:46.776" v="153" actId="1076"/>
          <ac:picMkLst>
            <pc:docMk/>
            <pc:sldMk cId="0" sldId="259"/>
            <ac:picMk id="29" creationId="{00000000-0000-0000-0000-000000000000}"/>
          </ac:picMkLst>
        </pc:picChg>
      </pc:sldChg>
      <pc:sldChg chg="addSp delSp modSp mod">
        <pc:chgData name="Axel Rivera" userId="fc7e1a40328662f9" providerId="LiveId" clId="{FB04CF02-191A-4FC8-B492-720210932FDD}" dt="2026-03-26T11:21:27.813" v="176" actId="1076"/>
        <pc:sldMkLst>
          <pc:docMk/>
          <pc:sldMk cId="0" sldId="260"/>
        </pc:sldMkLst>
        <pc:spChg chg="del mod">
          <ac:chgData name="Axel Rivera" userId="fc7e1a40328662f9" providerId="LiveId" clId="{FB04CF02-191A-4FC8-B492-720210932FDD}" dt="2026-03-26T11:21:17.529" v="174" actId="21"/>
          <ac:spMkLst>
            <pc:docMk/>
            <pc:sldMk cId="0" sldId="260"/>
            <ac:spMk id="3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0:50.676" v="168" actId="113"/>
          <ac:spMkLst>
            <pc:docMk/>
            <pc:sldMk cId="0" sldId="260"/>
            <ac:spMk id="11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0:53.994" v="169" actId="113"/>
          <ac:spMkLst>
            <pc:docMk/>
            <pc:sldMk cId="0" sldId="260"/>
            <ac:spMk id="14" creationId="{00000000-0000-0000-0000-000000000000}"/>
          </ac:spMkLst>
        </pc:spChg>
        <pc:spChg chg="del">
          <ac:chgData name="Axel Rivera" userId="fc7e1a40328662f9" providerId="LiveId" clId="{FB04CF02-191A-4FC8-B492-720210932FDD}" dt="2026-03-26T11:21:01.949" v="170" actId="478"/>
          <ac:spMkLst>
            <pc:docMk/>
            <pc:sldMk cId="0" sldId="260"/>
            <ac:spMk id="32" creationId="{00000000-0000-0000-0000-000000000000}"/>
          </ac:spMkLst>
        </pc:spChg>
        <pc:spChg chg="del mod">
          <ac:chgData name="Axel Rivera" userId="fc7e1a40328662f9" providerId="LiveId" clId="{FB04CF02-191A-4FC8-B492-720210932FDD}" dt="2026-03-26T11:21:04.738" v="172" actId="478"/>
          <ac:spMkLst>
            <pc:docMk/>
            <pc:sldMk cId="0" sldId="260"/>
            <ac:spMk id="33" creationId="{00000000-0000-0000-0000-000000000000}"/>
          </ac:spMkLst>
        </pc:spChg>
        <pc:spChg chg="add mod">
          <ac:chgData name="Axel Rivera" userId="fc7e1a40328662f9" providerId="LiveId" clId="{FB04CF02-191A-4FC8-B492-720210932FDD}" dt="2026-03-26T11:21:27.813" v="176" actId="1076"/>
          <ac:spMkLst>
            <pc:docMk/>
            <pc:sldMk cId="0" sldId="260"/>
            <ac:spMk id="34" creationId="{00000000-0000-0000-0000-000000000000}"/>
          </ac:spMkLst>
        </pc:spChg>
      </pc:sldChg>
      <pc:sldChg chg="delSp modSp mod">
        <pc:chgData name="Axel Rivera" userId="fc7e1a40328662f9" providerId="LiveId" clId="{FB04CF02-191A-4FC8-B492-720210932FDD}" dt="2026-03-26T11:24:40.517" v="224" actId="1076"/>
        <pc:sldMkLst>
          <pc:docMk/>
          <pc:sldMk cId="0" sldId="261"/>
        </pc:sldMkLst>
        <pc:spChg chg="mod">
          <ac:chgData name="Axel Rivera" userId="fc7e1a40328662f9" providerId="LiveId" clId="{FB04CF02-191A-4FC8-B492-720210932FDD}" dt="2026-03-26T11:22:04.843" v="184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2:36.135" v="195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2:32.422" v="194" actId="113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2:24.802" v="190" actId="20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2:18.551" v="189" actId="20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4:04.659" v="219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3:04.467" v="197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3:59.170" v="217" actId="20577"/>
          <ac:spMkLst>
            <pc:docMk/>
            <pc:sldMk cId="0" sldId="261"/>
            <ac:spMk id="23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4:29.994" v="222" actId="207"/>
          <ac:spMkLst>
            <pc:docMk/>
            <pc:sldMk cId="0" sldId="261"/>
            <ac:spMk id="24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4:40.517" v="224" actId="1076"/>
          <ac:spMkLst>
            <pc:docMk/>
            <pc:sldMk cId="0" sldId="261"/>
            <ac:spMk id="25" creationId="{00000000-0000-0000-0000-000000000000}"/>
          </ac:spMkLst>
        </pc:spChg>
        <pc:spChg chg="del">
          <ac:chgData name="Axel Rivera" userId="fc7e1a40328662f9" providerId="LiveId" clId="{FB04CF02-191A-4FC8-B492-720210932FDD}" dt="2026-03-26T11:21:54.997" v="182" actId="478"/>
          <ac:spMkLst>
            <pc:docMk/>
            <pc:sldMk cId="0" sldId="261"/>
            <ac:spMk id="30" creationId="{00000000-0000-0000-0000-000000000000}"/>
          </ac:spMkLst>
        </pc:spChg>
        <pc:spChg chg="del">
          <ac:chgData name="Axel Rivera" userId="fc7e1a40328662f9" providerId="LiveId" clId="{FB04CF02-191A-4FC8-B492-720210932FDD}" dt="2026-03-26T11:21:58.392" v="183" actId="478"/>
          <ac:spMkLst>
            <pc:docMk/>
            <pc:sldMk cId="0" sldId="261"/>
            <ac:spMk id="31" creationId="{00000000-0000-0000-0000-000000000000}"/>
          </ac:spMkLst>
        </pc:spChg>
        <pc:picChg chg="mod">
          <ac:chgData name="Axel Rivera" userId="fc7e1a40328662f9" providerId="LiveId" clId="{FB04CF02-191A-4FC8-B492-720210932FDD}" dt="2026-03-26T11:23:04.467" v="197" actId="1076"/>
          <ac:picMkLst>
            <pc:docMk/>
            <pc:sldMk cId="0" sldId="261"/>
            <ac:picMk id="21" creationId="{00000000-0000-0000-0000-000000000000}"/>
          </ac:picMkLst>
        </pc:picChg>
      </pc:sldChg>
      <pc:sldChg chg="delSp modSp mod">
        <pc:chgData name="Axel Rivera" userId="fc7e1a40328662f9" providerId="LiveId" clId="{FB04CF02-191A-4FC8-B492-720210932FDD}" dt="2026-03-26T11:27:30.136" v="255" actId="1076"/>
        <pc:sldMkLst>
          <pc:docMk/>
          <pc:sldMk cId="0" sldId="262"/>
        </pc:sldMkLst>
        <pc:spChg chg="mod">
          <ac:chgData name="Axel Rivera" userId="fc7e1a40328662f9" providerId="LiveId" clId="{FB04CF02-191A-4FC8-B492-720210932FDD}" dt="2026-03-26T11:24:59.453" v="226" actId="21"/>
          <ac:spMkLst>
            <pc:docMk/>
            <pc:sldMk cId="0" sldId="262"/>
            <ac:spMk id="3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5:23.140" v="232" actId="14100"/>
          <ac:spMkLst>
            <pc:docMk/>
            <pc:sldMk cId="0" sldId="262"/>
            <ac:spMk id="7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7:20.820" v="253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5:16.400" v="231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5:31.108" v="235" actId="14100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5:34.881" v="236" actId="1410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5:42.332" v="237" actId="14100"/>
          <ac:spMkLst>
            <pc:docMk/>
            <pc:sldMk cId="0" sldId="262"/>
            <ac:spMk id="17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7:30.136" v="255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5:58.353" v="239" actId="107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5:52.940" v="238" actId="1076"/>
          <ac:spMkLst>
            <pc:docMk/>
            <pc:sldMk cId="0" sldId="262"/>
            <ac:spMk id="28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5:10.455" v="229" actId="14100"/>
          <ac:spMkLst>
            <pc:docMk/>
            <pc:sldMk cId="0" sldId="262"/>
            <ac:spMk id="33" creationId="{00000000-0000-0000-0000-000000000000}"/>
          </ac:spMkLst>
        </pc:spChg>
        <pc:spChg chg="del">
          <ac:chgData name="Axel Rivera" userId="fc7e1a40328662f9" providerId="LiveId" clId="{FB04CF02-191A-4FC8-B492-720210932FDD}" dt="2026-03-26T11:26:33.741" v="247" actId="478"/>
          <ac:spMkLst>
            <pc:docMk/>
            <pc:sldMk cId="0" sldId="262"/>
            <ac:spMk id="34" creationId="{00000000-0000-0000-0000-000000000000}"/>
          </ac:spMkLst>
        </pc:spChg>
        <pc:picChg chg="mod">
          <ac:chgData name="Axel Rivera" userId="fc7e1a40328662f9" providerId="LiveId" clId="{FB04CF02-191A-4FC8-B492-720210932FDD}" dt="2026-03-26T11:25:58.353" v="239" actId="1076"/>
          <ac:picMkLst>
            <pc:docMk/>
            <pc:sldMk cId="0" sldId="262"/>
            <ac:picMk id="25" creationId="{00000000-0000-0000-0000-000000000000}"/>
          </ac:picMkLst>
        </pc:picChg>
        <pc:picChg chg="mod">
          <ac:chgData name="Axel Rivera" userId="fc7e1a40328662f9" providerId="LiveId" clId="{FB04CF02-191A-4FC8-B492-720210932FDD}" dt="2026-03-26T11:25:52.940" v="238" actId="1076"/>
          <ac:picMkLst>
            <pc:docMk/>
            <pc:sldMk cId="0" sldId="262"/>
            <ac:picMk id="27" creationId="{00000000-0000-0000-0000-000000000000}"/>
          </ac:picMkLst>
        </pc:picChg>
      </pc:sldChg>
      <pc:sldChg chg="delSp modSp mod">
        <pc:chgData name="Axel Rivera" userId="fc7e1a40328662f9" providerId="LiveId" clId="{FB04CF02-191A-4FC8-B492-720210932FDD}" dt="2026-03-26T11:26:58.634" v="251" actId="1038"/>
        <pc:sldMkLst>
          <pc:docMk/>
          <pc:sldMk cId="0" sldId="263"/>
        </pc:sldMkLst>
        <pc:spChg chg="del mod">
          <ac:chgData name="Axel Rivera" userId="fc7e1a40328662f9" providerId="LiveId" clId="{FB04CF02-191A-4FC8-B492-720210932FDD}" dt="2026-03-26T11:26:09.966" v="241" actId="478"/>
          <ac:spMkLst>
            <pc:docMk/>
            <pc:sldMk cId="0" sldId="263"/>
            <ac:spMk id="3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6:43.041" v="248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6:50.611" v="249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6:58.634" v="251" actId="1038"/>
          <ac:spMkLst>
            <pc:docMk/>
            <pc:sldMk cId="0" sldId="263"/>
            <ac:spMk id="20" creationId="{00000000-0000-0000-0000-000000000000}"/>
          </ac:spMkLst>
        </pc:spChg>
        <pc:spChg chg="mod">
          <ac:chgData name="Axel Rivera" userId="fc7e1a40328662f9" providerId="LiveId" clId="{FB04CF02-191A-4FC8-B492-720210932FDD}" dt="2026-03-26T11:26:26.130" v="244"/>
          <ac:spMkLst>
            <pc:docMk/>
            <pc:sldMk cId="0" sldId="263"/>
            <ac:spMk id="27" creationId="{00000000-0000-0000-0000-000000000000}"/>
          </ac:spMkLst>
        </pc:spChg>
        <pc:spChg chg="del mod">
          <ac:chgData name="Axel Rivera" userId="fc7e1a40328662f9" providerId="LiveId" clId="{FB04CF02-191A-4FC8-B492-720210932FDD}" dt="2026-03-26T11:26:30.028" v="246" actId="478"/>
          <ac:spMkLst>
            <pc:docMk/>
            <pc:sldMk cId="0" sldId="263"/>
            <ac:spMk id="2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2075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0706" y="1890874"/>
            <a:ext cx="2793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JULIO AXEL DELGADO RIVERA</a:t>
            </a:r>
          </a:p>
          <a:p>
            <a:pPr marL="0" indent="0" algn="l">
              <a:buNone/>
            </a:pPr>
            <a:r>
              <a:rPr lang="en-US" sz="1496" b="1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AXEL TRISTAN RAMOS</a:t>
            </a:r>
            <a:endParaRPr lang="en-US" sz="1496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6730" y="2647950"/>
            <a:ext cx="8711915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50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PRESENTACIÓN: informe técnico de pruebas</a:t>
            </a:r>
            <a:endParaRPr lang="en-US" sz="5000" b="1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937450" y="3421095"/>
            <a:ext cx="402216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4788" dirty="0"/>
          </a:p>
        </p:txBody>
      </p:sp>
      <p:sp>
        <p:nvSpPr>
          <p:cNvPr id="5" name="Shape 3"/>
          <p:cNvSpPr/>
          <p:nvPr/>
        </p:nvSpPr>
        <p:spPr>
          <a:xfrm>
            <a:off x="506730" y="4629149"/>
            <a:ext cx="6269950" cy="45719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506730" y="4895850"/>
            <a:ext cx="6021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394" b="1" dirty="0">
                <a:solidFill>
                  <a:srgbClr val="A0A0B0"/>
                </a:solidFill>
                <a:latin typeface="Segoe UI" pitchFamily="34" charset="0"/>
                <a:cs typeface="Segoe UI" pitchFamily="34" charset="-120"/>
              </a:rPr>
              <a:t>ESTANDARES Y MÉTRICAS DE SOFTWARE</a:t>
            </a:r>
            <a:endParaRPr lang="en-US" sz="2394" b="1" dirty="0"/>
          </a:p>
        </p:txBody>
      </p:sp>
      <p:sp>
        <p:nvSpPr>
          <p:cNvPr id="9" name="Shape 6"/>
          <p:cNvSpPr/>
          <p:nvPr/>
        </p:nvSpPr>
        <p:spPr>
          <a:xfrm>
            <a:off x="10459989" y="677895"/>
            <a:ext cx="12668" cy="54864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620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430721" y="203200"/>
            <a:ext cx="1931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6C6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INTRODUCCIÓN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430721" y="482600"/>
            <a:ext cx="19319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93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El Problema</a:t>
            </a:r>
            <a:endParaRPr lang="en-US" sz="2993" dirty="0"/>
          </a:p>
        </p:txBody>
      </p:sp>
      <p:sp>
        <p:nvSpPr>
          <p:cNvPr id="5" name="Shape 3"/>
          <p:cNvSpPr/>
          <p:nvPr/>
        </p:nvSpPr>
        <p:spPr>
          <a:xfrm>
            <a:off x="405384" y="1314450"/>
            <a:ext cx="4438935" cy="4902200"/>
          </a:xfrm>
          <a:prstGeom prst="roundRect">
            <a:avLst>
              <a:gd name="adj" fmla="val 427"/>
            </a:avLst>
          </a:prstGeom>
          <a:solidFill>
            <a:srgbClr val="1E223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532067" y="1377950"/>
            <a:ext cx="209026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384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“</a:t>
            </a:r>
            <a:endParaRPr lang="en-US" sz="6384" dirty="0"/>
          </a:p>
        </p:txBody>
      </p:sp>
      <p:sp>
        <p:nvSpPr>
          <p:cNvPr id="7" name="Text 5"/>
          <p:cNvSpPr txBox="1"/>
          <p:nvPr/>
        </p:nvSpPr>
        <p:spPr>
          <a:xfrm>
            <a:off x="658749" y="2844006"/>
            <a:ext cx="393220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94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La gestión manual de citas genera caos operativo</a:t>
            </a:r>
            <a:endParaRPr lang="en-US" sz="2394" dirty="0"/>
          </a:p>
        </p:txBody>
      </p:sp>
      <p:sp>
        <p:nvSpPr>
          <p:cNvPr id="8" name="Text 6"/>
          <p:cNvSpPr txBox="1"/>
          <p:nvPr/>
        </p:nvSpPr>
        <p:spPr>
          <a:xfrm>
            <a:off x="658749" y="3758406"/>
            <a:ext cx="3932205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Cuadernos físicos, apps de mensajería genéricas y horarios duplicados limitan el crecimiento del negocio.</a:t>
            </a:r>
            <a:endParaRPr lang="en-US" sz="1496" dirty="0"/>
          </a:p>
        </p:txBody>
      </p:sp>
      <p:sp>
        <p:nvSpPr>
          <p:cNvPr id="9" name="Shape 7"/>
          <p:cNvSpPr/>
          <p:nvPr/>
        </p:nvSpPr>
        <p:spPr>
          <a:xfrm>
            <a:off x="5097684" y="1314450"/>
            <a:ext cx="6658452" cy="1532434"/>
          </a:xfrm>
          <a:prstGeom prst="roundRect">
            <a:avLst>
              <a:gd name="adj" fmla="val 3956"/>
            </a:avLst>
          </a:prstGeom>
          <a:solidFill>
            <a:srgbClr val="22243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63717" y="1928217"/>
            <a:ext cx="304038" cy="3048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857779" y="1813917"/>
            <a:ext cx="53206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Duplicidad de horarios</a:t>
            </a:r>
            <a:endParaRPr lang="en-US" sz="1795" dirty="0"/>
          </a:p>
        </p:txBody>
      </p:sp>
      <p:sp>
        <p:nvSpPr>
          <p:cNvPr id="12" name="Text 9"/>
          <p:cNvSpPr txBox="1"/>
          <p:nvPr/>
        </p:nvSpPr>
        <p:spPr>
          <a:xfrm>
            <a:off x="5857779" y="2118717"/>
            <a:ext cx="5320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sistema centralizado, dos clientes pueden ocupar el mismo slot.</a:t>
            </a:r>
            <a:endParaRPr lang="en-US" sz="1496" dirty="0"/>
          </a:p>
        </p:txBody>
      </p:sp>
      <p:sp>
        <p:nvSpPr>
          <p:cNvPr id="13" name="Shape 10"/>
          <p:cNvSpPr/>
          <p:nvPr/>
        </p:nvSpPr>
        <p:spPr>
          <a:xfrm>
            <a:off x="5097684" y="2999284"/>
            <a:ext cx="6658452" cy="1532533"/>
          </a:xfrm>
          <a:prstGeom prst="roundRect">
            <a:avLst>
              <a:gd name="adj" fmla="val 3956"/>
            </a:avLst>
          </a:prstGeom>
          <a:solidFill>
            <a:srgbClr val="22243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63717" y="3613150"/>
            <a:ext cx="304038" cy="3048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57779" y="3498850"/>
            <a:ext cx="535867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Sin confirmaciones automáticas</a:t>
            </a:r>
            <a:endParaRPr lang="en-US" sz="1795" dirty="0"/>
          </a:p>
        </p:txBody>
      </p:sp>
      <p:sp>
        <p:nvSpPr>
          <p:cNvPr id="16" name="Text 12"/>
          <p:cNvSpPr txBox="1"/>
          <p:nvPr/>
        </p:nvSpPr>
        <p:spPr>
          <a:xfrm>
            <a:off x="5857779" y="3803650"/>
            <a:ext cx="5358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barbero depende de mensajes manuales, generando ausentismo.</a:t>
            </a:r>
            <a:endParaRPr lang="en-US" sz="1496" dirty="0"/>
          </a:p>
        </p:txBody>
      </p:sp>
      <p:sp>
        <p:nvSpPr>
          <p:cNvPr id="17" name="Shape 13"/>
          <p:cNvSpPr/>
          <p:nvPr/>
        </p:nvSpPr>
        <p:spPr>
          <a:xfrm>
            <a:off x="5097684" y="4684216"/>
            <a:ext cx="6658452" cy="1532434"/>
          </a:xfrm>
          <a:prstGeom prst="roundRect">
            <a:avLst>
              <a:gd name="adj" fmla="val 3956"/>
            </a:avLst>
          </a:prstGeom>
          <a:solidFill>
            <a:srgbClr val="22243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63717" y="5297984"/>
            <a:ext cx="304038" cy="3048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857779" y="5183684"/>
            <a:ext cx="53713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Visibilidad restringida</a:t>
            </a:r>
            <a:endParaRPr lang="en-US" sz="1795" dirty="0"/>
          </a:p>
        </p:txBody>
      </p:sp>
      <p:sp>
        <p:nvSpPr>
          <p:cNvPr id="20" name="Text 15"/>
          <p:cNvSpPr txBox="1"/>
          <p:nvPr/>
        </p:nvSpPr>
        <p:spPr>
          <a:xfrm>
            <a:off x="5857779" y="5488484"/>
            <a:ext cx="5371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claridad sobre la disponibilidad real para el barbero ni el cliente.</a:t>
            </a:r>
            <a:endParaRPr lang="en-US" sz="1496" dirty="0"/>
          </a:p>
        </p:txBody>
      </p:sp>
      <p:sp>
        <p:nvSpPr>
          <p:cNvPr id="21" name="Shape 16"/>
          <p:cNvSpPr/>
          <p:nvPr/>
        </p:nvSpPr>
        <p:spPr>
          <a:xfrm>
            <a:off x="0" y="6369050"/>
            <a:ext cx="12161520" cy="488950"/>
          </a:xfrm>
          <a:prstGeom prst="rect">
            <a:avLst/>
          </a:prstGeom>
          <a:noFill/>
          <a:ln w="6334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620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1643701" y="6486007"/>
            <a:ext cx="56880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 1 · SEGURIDAD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430721" y="482600"/>
            <a:ext cx="568804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93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Autenticación y Control de Accesos</a:t>
            </a:r>
            <a:endParaRPr lang="en-US" sz="2993" dirty="0"/>
          </a:p>
        </p:txBody>
      </p:sp>
      <p:sp>
        <p:nvSpPr>
          <p:cNvPr id="5" name="Shape 3"/>
          <p:cNvSpPr/>
          <p:nvPr/>
        </p:nvSpPr>
        <p:spPr>
          <a:xfrm>
            <a:off x="405384" y="1263650"/>
            <a:ext cx="6658353" cy="1016000"/>
          </a:xfrm>
          <a:prstGeom prst="roundRect">
            <a:avLst>
              <a:gd name="adj" fmla="val 9000"/>
            </a:avLst>
          </a:prstGeom>
          <a:solidFill>
            <a:srgbClr val="1E223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2740" y="1644650"/>
            <a:ext cx="253365" cy="254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2787" y="1416050"/>
            <a:ext cx="59489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6C6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</a:t>
            </a:r>
            <a:endParaRPr lang="en-US" sz="1496" dirty="0"/>
          </a:p>
        </p:txBody>
      </p:sp>
      <p:sp>
        <p:nvSpPr>
          <p:cNvPr id="8" name="Text 5"/>
          <p:cNvSpPr txBox="1"/>
          <p:nvPr/>
        </p:nvSpPr>
        <p:spPr>
          <a:xfrm>
            <a:off x="962787" y="1670050"/>
            <a:ext cx="59489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Verificar que el sistema protege rutas privadas y solo permite acceso con token válido.</a:t>
            </a:r>
            <a:endParaRPr lang="en-US" sz="1496" dirty="0"/>
          </a:p>
        </p:txBody>
      </p:sp>
      <p:sp>
        <p:nvSpPr>
          <p:cNvPr id="9" name="Shape 6"/>
          <p:cNvSpPr/>
          <p:nvPr/>
        </p:nvSpPr>
        <p:spPr>
          <a:xfrm>
            <a:off x="557403" y="3486150"/>
            <a:ext cx="278702" cy="279400"/>
          </a:xfrm>
          <a:prstGeom prst="roundRect">
            <a:avLst>
              <a:gd name="adj" fmla="val 149117983"/>
            </a:avLst>
          </a:prstGeom>
          <a:noFill/>
          <a:ln w="12668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 txBox="1"/>
          <p:nvPr/>
        </p:nvSpPr>
        <p:spPr>
          <a:xfrm>
            <a:off x="668250" y="3511550"/>
            <a:ext cx="57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1</a:t>
            </a:r>
            <a:endParaRPr lang="en-US" sz="1496" dirty="0"/>
          </a:p>
        </p:txBody>
      </p:sp>
      <p:sp>
        <p:nvSpPr>
          <p:cNvPr id="11" name="Text 8"/>
          <p:cNvSpPr txBox="1"/>
          <p:nvPr/>
        </p:nvSpPr>
        <p:spPr>
          <a:xfrm>
            <a:off x="962787" y="3486150"/>
            <a:ext cx="379414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navegador en modo incógnito (sin cookies)</a:t>
            </a:r>
            <a:endParaRPr lang="en-US" sz="1496" b="1" dirty="0">
              <a:solidFill>
                <a:schemeClr val="bg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557403" y="3968750"/>
            <a:ext cx="278702" cy="279400"/>
          </a:xfrm>
          <a:prstGeom prst="roundRect">
            <a:avLst>
              <a:gd name="adj" fmla="val 149117983"/>
            </a:avLst>
          </a:prstGeom>
          <a:noFill/>
          <a:ln w="12668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 txBox="1"/>
          <p:nvPr/>
        </p:nvSpPr>
        <p:spPr>
          <a:xfrm>
            <a:off x="649248" y="3994150"/>
            <a:ext cx="95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2</a:t>
            </a:r>
            <a:endParaRPr lang="en-US" sz="1496" dirty="0"/>
          </a:p>
        </p:txBody>
      </p:sp>
      <p:sp>
        <p:nvSpPr>
          <p:cNvPr id="14" name="Text 11"/>
          <p:cNvSpPr txBox="1"/>
          <p:nvPr/>
        </p:nvSpPr>
        <p:spPr>
          <a:xfrm>
            <a:off x="962787" y="3968750"/>
            <a:ext cx="46492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Intentar acceder directamente a la agenda sin sesión activa</a:t>
            </a:r>
            <a:endParaRPr lang="en-US" sz="1496" b="1" dirty="0">
              <a:solidFill>
                <a:schemeClr val="bg1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57403" y="4451350"/>
            <a:ext cx="278702" cy="279400"/>
          </a:xfrm>
          <a:prstGeom prst="roundRect">
            <a:avLst>
              <a:gd name="adj" fmla="val 149117983"/>
            </a:avLst>
          </a:prstGeom>
          <a:noFill/>
          <a:ln w="12668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 txBox="1"/>
          <p:nvPr/>
        </p:nvSpPr>
        <p:spPr>
          <a:xfrm>
            <a:off x="649248" y="4476750"/>
            <a:ext cx="95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3</a:t>
            </a:r>
            <a:endParaRPr lang="en-US" sz="1496" dirty="0"/>
          </a:p>
        </p:txBody>
      </p:sp>
      <p:sp>
        <p:nvSpPr>
          <p:cNvPr id="17" name="Text 14"/>
          <p:cNvSpPr txBox="1"/>
          <p:nvPr/>
        </p:nvSpPr>
        <p:spPr>
          <a:xfrm>
            <a:off x="962787" y="4451350"/>
            <a:ext cx="433254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EAEA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sistema muestra un aviso: sin permisos para ingresar</a:t>
            </a:r>
            <a:endParaRPr lang="en-US" sz="1496" dirty="0"/>
          </a:p>
        </p:txBody>
      </p:sp>
      <p:sp>
        <p:nvSpPr>
          <p:cNvPr id="18" name="Shape 15"/>
          <p:cNvSpPr/>
          <p:nvPr/>
        </p:nvSpPr>
        <p:spPr>
          <a:xfrm>
            <a:off x="557403" y="4933950"/>
            <a:ext cx="278702" cy="279400"/>
          </a:xfrm>
          <a:prstGeom prst="roundRect">
            <a:avLst>
              <a:gd name="adj" fmla="val 149117983"/>
            </a:avLst>
          </a:prstGeom>
          <a:noFill/>
          <a:ln w="12668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 txBox="1"/>
          <p:nvPr/>
        </p:nvSpPr>
        <p:spPr>
          <a:xfrm>
            <a:off x="646081" y="4959350"/>
            <a:ext cx="1013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4</a:t>
            </a:r>
            <a:endParaRPr lang="en-US" sz="1496" dirty="0"/>
          </a:p>
        </p:txBody>
      </p:sp>
      <p:sp>
        <p:nvSpPr>
          <p:cNvPr id="20" name="Text 17"/>
          <p:cNvSpPr txBox="1"/>
          <p:nvPr/>
        </p:nvSpPr>
        <p:spPr>
          <a:xfrm>
            <a:off x="962787" y="4933950"/>
            <a:ext cx="25336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EAEA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Redirección automática al Login</a:t>
            </a:r>
            <a:endParaRPr lang="en-US" sz="1496" dirty="0"/>
          </a:p>
        </p:txBody>
      </p:sp>
      <p:sp>
        <p:nvSpPr>
          <p:cNvPr id="21" name="Shape 18"/>
          <p:cNvSpPr/>
          <p:nvPr/>
        </p:nvSpPr>
        <p:spPr>
          <a:xfrm>
            <a:off x="7205752" y="1898650"/>
            <a:ext cx="4438935" cy="3447726"/>
          </a:xfrm>
          <a:prstGeom prst="roundRect">
            <a:avLst>
              <a:gd name="adj" fmla="val 1075"/>
            </a:avLst>
          </a:prstGeom>
          <a:solidFill>
            <a:srgbClr val="22243A"/>
          </a:solidFill>
          <a:ln w="19002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60332" y="2111375"/>
            <a:ext cx="405384" cy="4064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710609" y="2670175"/>
            <a:ext cx="13048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VERIFICADO</a:t>
            </a:r>
            <a:endParaRPr lang="en-US" sz="1795" dirty="0"/>
          </a:p>
        </p:txBody>
      </p:sp>
      <p:sp>
        <p:nvSpPr>
          <p:cNvPr id="24" name="Text 20"/>
          <p:cNvSpPr txBox="1"/>
          <p:nvPr/>
        </p:nvSpPr>
        <p:spPr>
          <a:xfrm>
            <a:off x="7773159" y="3076575"/>
            <a:ext cx="317973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Acceso correctamente bloqueado</a:t>
            </a:r>
            <a:endParaRPr lang="en-US" sz="1795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70467" y="3704512"/>
            <a:ext cx="202692" cy="2032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874505" y="3716629"/>
            <a:ext cx="2045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Rutas privadas protegidas</a:t>
            </a:r>
            <a:endParaRPr lang="en-US" sz="1496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70467" y="4336337"/>
            <a:ext cx="202692" cy="2032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874505" y="4323637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Redirección automática al Login</a:t>
            </a:r>
            <a:endParaRPr lang="en-US" sz="1496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70467" y="4886584"/>
            <a:ext cx="202692" cy="2032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874505" y="4873884"/>
            <a:ext cx="2856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JWT requerido para continuar</a:t>
            </a:r>
            <a:endParaRPr lang="en-US" sz="1496" dirty="0"/>
          </a:p>
        </p:txBody>
      </p:sp>
      <p:sp>
        <p:nvSpPr>
          <p:cNvPr id="31" name="Shape 24"/>
          <p:cNvSpPr/>
          <p:nvPr/>
        </p:nvSpPr>
        <p:spPr>
          <a:xfrm>
            <a:off x="0" y="6369050"/>
            <a:ext cx="12161520" cy="488950"/>
          </a:xfrm>
          <a:prstGeom prst="rect">
            <a:avLst/>
          </a:prstGeom>
          <a:noFill/>
          <a:ln w="6334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620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30721" y="482600"/>
            <a:ext cx="526365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93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Gestión de Citas en Tiempo Real</a:t>
            </a:r>
            <a:endParaRPr lang="en-US" sz="2993" dirty="0"/>
          </a:p>
        </p:txBody>
      </p:sp>
      <p:sp>
        <p:nvSpPr>
          <p:cNvPr id="5" name="Shape 3"/>
          <p:cNvSpPr/>
          <p:nvPr/>
        </p:nvSpPr>
        <p:spPr>
          <a:xfrm>
            <a:off x="405384" y="1263650"/>
            <a:ext cx="4438935" cy="1016000"/>
          </a:xfrm>
          <a:prstGeom prst="roundRect">
            <a:avLst>
              <a:gd name="adj" fmla="val 9000"/>
            </a:avLst>
          </a:prstGeom>
          <a:solidFill>
            <a:srgbClr val="1E223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2740" y="1644650"/>
            <a:ext cx="253365" cy="254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2787" y="1416050"/>
            <a:ext cx="37295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6C6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</a:t>
            </a:r>
            <a:endParaRPr lang="en-US" sz="1496" dirty="0"/>
          </a:p>
        </p:txBody>
      </p:sp>
      <p:sp>
        <p:nvSpPr>
          <p:cNvPr id="8" name="Text 5"/>
          <p:cNvSpPr txBox="1"/>
          <p:nvPr/>
        </p:nvSpPr>
        <p:spPr>
          <a:xfrm>
            <a:off x="962787" y="1670050"/>
            <a:ext cx="37295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Confirmar la comunicación correcta entre Frontend y Azure SQL al modificar una cita.</a:t>
            </a:r>
            <a:endParaRPr lang="en-US" sz="1496" dirty="0"/>
          </a:p>
        </p:txBody>
      </p:sp>
      <p:sp>
        <p:nvSpPr>
          <p:cNvPr id="9" name="Shape 6"/>
          <p:cNvSpPr/>
          <p:nvPr/>
        </p:nvSpPr>
        <p:spPr>
          <a:xfrm>
            <a:off x="557403" y="3524250"/>
            <a:ext cx="278702" cy="279400"/>
          </a:xfrm>
          <a:prstGeom prst="roundRect">
            <a:avLst>
              <a:gd name="adj" fmla="val 149117983"/>
            </a:avLst>
          </a:prstGeom>
          <a:noFill/>
          <a:ln w="12668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 txBox="1"/>
          <p:nvPr/>
        </p:nvSpPr>
        <p:spPr>
          <a:xfrm>
            <a:off x="668250" y="3549650"/>
            <a:ext cx="57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1</a:t>
            </a:r>
            <a:endParaRPr lang="en-US" sz="1496" dirty="0"/>
          </a:p>
        </p:txBody>
      </p:sp>
      <p:sp>
        <p:nvSpPr>
          <p:cNvPr id="11" name="Text 8"/>
          <p:cNvSpPr txBox="1"/>
          <p:nvPr/>
        </p:nvSpPr>
        <p:spPr>
          <a:xfrm>
            <a:off x="962787" y="3524250"/>
            <a:ext cx="336975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Iniciar sesión y ocupar un slot en la agenda</a:t>
            </a:r>
            <a:endParaRPr lang="en-US" sz="1496" b="1" dirty="0">
              <a:solidFill>
                <a:schemeClr val="bg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557403" y="4006850"/>
            <a:ext cx="278702" cy="279400"/>
          </a:xfrm>
          <a:prstGeom prst="roundRect">
            <a:avLst>
              <a:gd name="adj" fmla="val 149117983"/>
            </a:avLst>
          </a:prstGeom>
          <a:noFill/>
          <a:ln w="12668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 txBox="1"/>
          <p:nvPr/>
        </p:nvSpPr>
        <p:spPr>
          <a:xfrm>
            <a:off x="649248" y="4032250"/>
            <a:ext cx="95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2</a:t>
            </a:r>
            <a:endParaRPr lang="en-US" sz="1496" dirty="0"/>
          </a:p>
        </p:txBody>
      </p:sp>
      <p:sp>
        <p:nvSpPr>
          <p:cNvPr id="14" name="Text 11"/>
          <p:cNvSpPr txBox="1"/>
          <p:nvPr/>
        </p:nvSpPr>
        <p:spPr>
          <a:xfrm>
            <a:off x="962787" y="4006850"/>
            <a:ext cx="388153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Verificar visualmente que el slot aparece como ocupado</a:t>
            </a:r>
            <a:endParaRPr lang="en-US" sz="1496" b="1" dirty="0">
              <a:solidFill>
                <a:schemeClr val="bg1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57403" y="4692650"/>
            <a:ext cx="278702" cy="279400"/>
          </a:xfrm>
          <a:prstGeom prst="roundRect">
            <a:avLst>
              <a:gd name="adj" fmla="val 149117983"/>
            </a:avLst>
          </a:prstGeom>
          <a:noFill/>
          <a:ln w="12668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 txBox="1"/>
          <p:nvPr/>
        </p:nvSpPr>
        <p:spPr>
          <a:xfrm>
            <a:off x="649248" y="4718050"/>
            <a:ext cx="95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3</a:t>
            </a:r>
            <a:endParaRPr lang="en-US" sz="1496" dirty="0"/>
          </a:p>
        </p:txBody>
      </p:sp>
      <p:sp>
        <p:nvSpPr>
          <p:cNvPr id="17" name="Text 14"/>
          <p:cNvSpPr txBox="1"/>
          <p:nvPr/>
        </p:nvSpPr>
        <p:spPr>
          <a:xfrm>
            <a:off x="962787" y="4692650"/>
            <a:ext cx="388153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EAEA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Consultar la tabla de citas en Azure SQL y confirmar el registro</a:t>
            </a:r>
            <a:endParaRPr lang="en-US" sz="1496" dirty="0"/>
          </a:p>
        </p:txBody>
      </p:sp>
      <p:sp>
        <p:nvSpPr>
          <p:cNvPr id="18" name="Shape 15"/>
          <p:cNvSpPr/>
          <p:nvPr/>
        </p:nvSpPr>
        <p:spPr>
          <a:xfrm>
            <a:off x="5097684" y="1263650"/>
            <a:ext cx="6658452" cy="3467100"/>
          </a:xfrm>
          <a:prstGeom prst="roundRect">
            <a:avLst>
              <a:gd name="adj" fmla="val 773"/>
            </a:avLst>
          </a:prstGeom>
          <a:solidFill>
            <a:srgbClr val="22243A"/>
          </a:solidFill>
          <a:ln w="19002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36837" y="2143125"/>
            <a:ext cx="380048" cy="3810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774446" y="2651125"/>
            <a:ext cx="13048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VERIFICADO</a:t>
            </a:r>
            <a:endParaRPr lang="en-US" sz="1795" dirty="0"/>
          </a:p>
        </p:txBody>
      </p:sp>
      <p:sp>
        <p:nvSpPr>
          <p:cNvPr id="21" name="Text 17"/>
          <p:cNvSpPr txBox="1"/>
          <p:nvPr/>
        </p:nvSpPr>
        <p:spPr>
          <a:xfrm>
            <a:off x="6187747" y="3032125"/>
            <a:ext cx="447822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Datos persistidos correctamente en Azure SQL</a:t>
            </a:r>
            <a:endParaRPr lang="en-US" sz="1795" dirty="0"/>
          </a:p>
        </p:txBody>
      </p:sp>
      <p:sp>
        <p:nvSpPr>
          <p:cNvPr id="22" name="Text 18"/>
          <p:cNvSpPr txBox="1"/>
          <p:nvPr/>
        </p:nvSpPr>
        <p:spPr>
          <a:xfrm>
            <a:off x="5351049" y="3413125"/>
            <a:ext cx="6151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recargar la página, la información persiste sin inconsistencias entre el frontend, backend y base de datos.</a:t>
            </a:r>
            <a:endParaRPr lang="en-US" sz="1496" dirty="0"/>
          </a:p>
        </p:txBody>
      </p:sp>
      <p:sp>
        <p:nvSpPr>
          <p:cNvPr id="23" name="Shape 19"/>
          <p:cNvSpPr/>
          <p:nvPr/>
        </p:nvSpPr>
        <p:spPr>
          <a:xfrm>
            <a:off x="5097684" y="4883150"/>
            <a:ext cx="3253167" cy="1384300"/>
          </a:xfrm>
          <a:prstGeom prst="roundRect">
            <a:avLst>
              <a:gd name="adj" fmla="val 4848"/>
            </a:avLst>
          </a:prstGeom>
          <a:solidFill>
            <a:srgbClr val="1E2235"/>
          </a:solidFill>
          <a:ln w="6334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10253" y="5041900"/>
            <a:ext cx="228029" cy="2286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935669" y="5346700"/>
            <a:ext cx="15771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Actualización visual</a:t>
            </a:r>
            <a:endParaRPr lang="en-US" sz="1496" dirty="0"/>
          </a:p>
        </p:txBody>
      </p:sp>
      <p:sp>
        <p:nvSpPr>
          <p:cNvPr id="26" name="Text 21"/>
          <p:cNvSpPr txBox="1"/>
          <p:nvPr/>
        </p:nvSpPr>
        <p:spPr>
          <a:xfrm>
            <a:off x="5256037" y="5651500"/>
            <a:ext cx="29364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slot refleja el cambio de inmediato en la agenda</a:t>
            </a:r>
            <a:endParaRPr lang="en-US" sz="1496" dirty="0"/>
          </a:p>
        </p:txBody>
      </p:sp>
      <p:sp>
        <p:nvSpPr>
          <p:cNvPr id="27" name="Shape 22"/>
          <p:cNvSpPr/>
          <p:nvPr/>
        </p:nvSpPr>
        <p:spPr>
          <a:xfrm>
            <a:off x="8502870" y="4883150"/>
            <a:ext cx="3253266" cy="1384300"/>
          </a:xfrm>
          <a:prstGeom prst="roundRect">
            <a:avLst>
              <a:gd name="adj" fmla="val 4848"/>
            </a:avLst>
          </a:prstGeom>
          <a:solidFill>
            <a:srgbClr val="1E2235"/>
          </a:solidFill>
          <a:ln w="6334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015439" y="5041900"/>
            <a:ext cx="228029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353523" y="5346700"/>
            <a:ext cx="1551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Integridad de datos</a:t>
            </a:r>
            <a:endParaRPr lang="en-US" sz="1496" dirty="0"/>
          </a:p>
        </p:txBody>
      </p:sp>
      <p:sp>
        <p:nvSpPr>
          <p:cNvPr id="30" name="Text 24"/>
          <p:cNvSpPr txBox="1"/>
          <p:nvPr/>
        </p:nvSpPr>
        <p:spPr>
          <a:xfrm>
            <a:off x="8661223" y="5651500"/>
            <a:ext cx="293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completo en la base de datos confirmado</a:t>
            </a:r>
            <a:endParaRPr lang="en-US" sz="1496" dirty="0"/>
          </a:p>
        </p:txBody>
      </p:sp>
      <p:sp>
        <p:nvSpPr>
          <p:cNvPr id="31" name="Shape 25"/>
          <p:cNvSpPr/>
          <p:nvPr/>
        </p:nvSpPr>
        <p:spPr>
          <a:xfrm>
            <a:off x="0" y="6369050"/>
            <a:ext cx="12161520" cy="488950"/>
          </a:xfrm>
          <a:prstGeom prst="rect">
            <a:avLst/>
          </a:prstGeom>
          <a:noFill/>
          <a:ln w="6334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1"/>
          <p:cNvSpPr txBox="1"/>
          <p:nvPr/>
        </p:nvSpPr>
        <p:spPr>
          <a:xfrm>
            <a:off x="1467710" y="6499225"/>
            <a:ext cx="5263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 2 · FUNCIONALIDAD / BASE DE DATOS</a:t>
            </a:r>
            <a:endParaRPr lang="en-US" sz="149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620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1270476" y="6499225"/>
            <a:ext cx="32874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 3 · ADAPTABILIDAD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430721" y="482600"/>
            <a:ext cx="447718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93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Responsividad Móvil</a:t>
            </a:r>
            <a:endParaRPr lang="en-US" sz="2993" dirty="0"/>
          </a:p>
        </p:txBody>
      </p:sp>
      <p:sp>
        <p:nvSpPr>
          <p:cNvPr id="5" name="Shape 3"/>
          <p:cNvSpPr/>
          <p:nvPr/>
        </p:nvSpPr>
        <p:spPr>
          <a:xfrm>
            <a:off x="405384" y="1263650"/>
            <a:ext cx="6658353" cy="1016000"/>
          </a:xfrm>
          <a:prstGeom prst="roundRect">
            <a:avLst>
              <a:gd name="adj" fmla="val 9000"/>
            </a:avLst>
          </a:prstGeom>
          <a:solidFill>
            <a:srgbClr val="1E223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2740" y="1644650"/>
            <a:ext cx="253365" cy="254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2787" y="1416050"/>
            <a:ext cx="59489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6C6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</a:t>
            </a:r>
            <a:endParaRPr lang="en-US" sz="1496" dirty="0"/>
          </a:p>
        </p:txBody>
      </p:sp>
      <p:sp>
        <p:nvSpPr>
          <p:cNvPr id="8" name="Text 5"/>
          <p:cNvSpPr txBox="1"/>
          <p:nvPr/>
        </p:nvSpPr>
        <p:spPr>
          <a:xfrm>
            <a:off x="962787" y="1670050"/>
            <a:ext cx="59489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Asegurar que el diseño es completamente funcional en dispositivos móviles para el barbero.</a:t>
            </a:r>
            <a:endParaRPr lang="en-US" sz="1496" dirty="0"/>
          </a:p>
        </p:txBody>
      </p:sp>
      <p:sp>
        <p:nvSpPr>
          <p:cNvPr id="9" name="Shape 6"/>
          <p:cNvSpPr/>
          <p:nvPr/>
        </p:nvSpPr>
        <p:spPr>
          <a:xfrm>
            <a:off x="557403" y="3625850"/>
            <a:ext cx="278702" cy="279400"/>
          </a:xfrm>
          <a:prstGeom prst="roundRect">
            <a:avLst>
              <a:gd name="adj" fmla="val 149117983"/>
            </a:avLst>
          </a:prstGeom>
          <a:noFill/>
          <a:ln w="12668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 txBox="1"/>
          <p:nvPr/>
        </p:nvSpPr>
        <p:spPr>
          <a:xfrm>
            <a:off x="668250" y="3651250"/>
            <a:ext cx="57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1</a:t>
            </a:r>
            <a:endParaRPr lang="en-US" sz="1496" dirty="0"/>
          </a:p>
        </p:txBody>
      </p:sp>
      <p:sp>
        <p:nvSpPr>
          <p:cNvPr id="11" name="Text 8"/>
          <p:cNvSpPr txBox="1"/>
          <p:nvPr/>
        </p:nvSpPr>
        <p:spPr>
          <a:xfrm>
            <a:off x="962787" y="3625850"/>
            <a:ext cx="510530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cualquier página del proyecto en el navegador de escritorio</a:t>
            </a:r>
            <a:endParaRPr lang="en-US" sz="1496" b="1" dirty="0">
              <a:solidFill>
                <a:schemeClr val="bg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557403" y="4108450"/>
            <a:ext cx="278702" cy="279400"/>
          </a:xfrm>
          <a:prstGeom prst="roundRect">
            <a:avLst>
              <a:gd name="adj" fmla="val 149117983"/>
            </a:avLst>
          </a:prstGeom>
          <a:noFill/>
          <a:ln w="12668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 txBox="1"/>
          <p:nvPr/>
        </p:nvSpPr>
        <p:spPr>
          <a:xfrm>
            <a:off x="649248" y="4133850"/>
            <a:ext cx="95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2</a:t>
            </a:r>
            <a:endParaRPr lang="en-US" sz="1496" dirty="0"/>
          </a:p>
        </p:txBody>
      </p:sp>
      <p:sp>
        <p:nvSpPr>
          <p:cNvPr id="14" name="Text 11"/>
          <p:cNvSpPr txBox="1"/>
          <p:nvPr/>
        </p:nvSpPr>
        <p:spPr>
          <a:xfrm>
            <a:off x="962787" y="4133850"/>
            <a:ext cx="27046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Presionar F12 y activar el modo de</a:t>
            </a:r>
            <a:endParaRPr lang="en-US" sz="1496" b="1" dirty="0">
              <a:solidFill>
                <a:schemeClr val="bg1"/>
              </a:solidFill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43468" y="4159250"/>
            <a:ext cx="177356" cy="1778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996833" y="4133850"/>
            <a:ext cx="159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Dispositivos Móviles</a:t>
            </a:r>
            <a:endParaRPr lang="en-US" sz="1496" b="1" dirty="0">
              <a:solidFill>
                <a:schemeClr val="bg1"/>
              </a:solidFill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57403" y="4591050"/>
            <a:ext cx="278702" cy="279400"/>
          </a:xfrm>
          <a:prstGeom prst="roundRect">
            <a:avLst>
              <a:gd name="adj" fmla="val 149117983"/>
            </a:avLst>
          </a:prstGeom>
          <a:noFill/>
          <a:ln w="12668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 txBox="1"/>
          <p:nvPr/>
        </p:nvSpPr>
        <p:spPr>
          <a:xfrm>
            <a:off x="649248" y="4616450"/>
            <a:ext cx="95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3</a:t>
            </a:r>
            <a:endParaRPr lang="en-US" sz="1496" dirty="0"/>
          </a:p>
        </p:txBody>
      </p:sp>
      <p:sp>
        <p:nvSpPr>
          <p:cNvPr id="19" name="Text 15"/>
          <p:cNvSpPr txBox="1"/>
          <p:nvPr/>
        </p:nvSpPr>
        <p:spPr>
          <a:xfrm>
            <a:off x="962787" y="4591050"/>
            <a:ext cx="610095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EAEA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Navegar entre las páginas y verificar que todos los elementos se adaptan correctamente</a:t>
            </a:r>
            <a:endParaRPr lang="en-US" sz="1496" dirty="0"/>
          </a:p>
        </p:txBody>
      </p:sp>
      <p:sp>
        <p:nvSpPr>
          <p:cNvPr id="20" name="Shape 16"/>
          <p:cNvSpPr/>
          <p:nvPr/>
        </p:nvSpPr>
        <p:spPr>
          <a:xfrm>
            <a:off x="7621140" y="1657350"/>
            <a:ext cx="3435570" cy="3035300"/>
          </a:xfrm>
          <a:prstGeom prst="roundRect">
            <a:avLst>
              <a:gd name="adj" fmla="val 5248"/>
            </a:avLst>
          </a:prstGeom>
          <a:solidFill>
            <a:srgbClr val="22243A"/>
          </a:solidFill>
          <a:ln w="12668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13480" y="1898650"/>
            <a:ext cx="354711" cy="355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81888" y="2381250"/>
            <a:ext cx="18178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Diseño Responsivo</a:t>
            </a:r>
            <a:endParaRPr lang="en-US" sz="1795" dirty="0"/>
          </a:p>
        </p:txBody>
      </p:sp>
      <p:sp>
        <p:nvSpPr>
          <p:cNvPr id="23" name="Text 18"/>
          <p:cNvSpPr txBox="1"/>
          <p:nvPr/>
        </p:nvSpPr>
        <p:spPr>
          <a:xfrm>
            <a:off x="9019053" y="3049166"/>
            <a:ext cx="8779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93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100%</a:t>
            </a:r>
          </a:p>
          <a:p>
            <a:pPr marL="0" indent="0" algn="l">
              <a:buNone/>
            </a:pPr>
            <a:endParaRPr lang="en-US" sz="2993" dirty="0"/>
          </a:p>
        </p:txBody>
      </p:sp>
      <p:sp>
        <p:nvSpPr>
          <p:cNvPr id="24" name="Text 19"/>
          <p:cNvSpPr txBox="1"/>
          <p:nvPr/>
        </p:nvSpPr>
        <p:spPr>
          <a:xfrm>
            <a:off x="8481888" y="3251653"/>
            <a:ext cx="1952301" cy="28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Adaptable </a:t>
            </a:r>
            <a:r>
              <a:rPr lang="en-US" sz="1496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</a:t>
            </a:r>
            <a:r>
              <a:rPr lang="en-US" sz="1496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móvil</a:t>
            </a:r>
            <a:endParaRPr lang="en-US" sz="1496" dirty="0">
              <a:solidFill>
                <a:schemeClr val="bg1"/>
              </a:solidFill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7996740" y="3609651"/>
            <a:ext cx="2684370" cy="121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Todos los templates verificados</a:t>
            </a:r>
            <a:endParaRPr lang="en-US" sz="1496" dirty="0">
              <a:solidFill>
                <a:schemeClr val="bg1"/>
              </a:solidFill>
            </a:endParaRPr>
          </a:p>
        </p:txBody>
      </p:sp>
      <p:sp>
        <p:nvSpPr>
          <p:cNvPr id="26" name="Shape 21"/>
          <p:cNvSpPr/>
          <p:nvPr/>
        </p:nvSpPr>
        <p:spPr>
          <a:xfrm>
            <a:off x="7500099" y="4845050"/>
            <a:ext cx="4072842" cy="482600"/>
          </a:xfrm>
          <a:prstGeom prst="roundRect">
            <a:avLst>
              <a:gd name="adj" fmla="val 39889"/>
            </a:avLst>
          </a:prstGeom>
          <a:solidFill>
            <a:srgbClr val="1E223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52118" y="4984750"/>
            <a:ext cx="202692" cy="2032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956156" y="4972050"/>
            <a:ext cx="34901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Interfaz verificada en múltiples resoluciones</a:t>
            </a:r>
            <a:endParaRPr lang="en-US" sz="1496" dirty="0"/>
          </a:p>
        </p:txBody>
      </p:sp>
      <p:sp>
        <p:nvSpPr>
          <p:cNvPr id="29" name="Shape 23"/>
          <p:cNvSpPr/>
          <p:nvPr/>
        </p:nvSpPr>
        <p:spPr>
          <a:xfrm>
            <a:off x="0" y="6369050"/>
            <a:ext cx="12161520" cy="488950"/>
          </a:xfrm>
          <a:prstGeom prst="rect">
            <a:avLst/>
          </a:prstGeom>
          <a:noFill/>
          <a:ln w="6334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620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-1121140" y="142875"/>
            <a:ext cx="32747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430721" y="482600"/>
            <a:ext cx="327474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93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El Sistema Funciona</a:t>
            </a:r>
            <a:endParaRPr lang="en-US" sz="2993" dirty="0"/>
          </a:p>
        </p:txBody>
      </p:sp>
      <p:sp>
        <p:nvSpPr>
          <p:cNvPr id="5" name="Shape 3"/>
          <p:cNvSpPr/>
          <p:nvPr/>
        </p:nvSpPr>
        <p:spPr>
          <a:xfrm>
            <a:off x="405384" y="1263650"/>
            <a:ext cx="3682205" cy="1562100"/>
          </a:xfrm>
          <a:prstGeom prst="roundRect">
            <a:avLst>
              <a:gd name="adj" fmla="val 3807"/>
            </a:avLst>
          </a:prstGeom>
          <a:solidFill>
            <a:srgbClr val="22243A"/>
          </a:solidFill>
          <a:ln w="12668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07086" y="1428750"/>
            <a:ext cx="278702" cy="279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94893" y="1828800"/>
            <a:ext cx="1007126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6C6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 1</a:t>
            </a:r>
            <a:endParaRPr lang="en-US" sz="1496" dirty="0"/>
          </a:p>
        </p:txBody>
      </p:sp>
      <p:sp>
        <p:nvSpPr>
          <p:cNvPr id="8" name="Text 5"/>
          <p:cNvSpPr txBox="1"/>
          <p:nvPr/>
        </p:nvSpPr>
        <p:spPr>
          <a:xfrm>
            <a:off x="1590854" y="2089150"/>
            <a:ext cx="1406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Autenticación</a:t>
            </a:r>
            <a:endParaRPr lang="en-US" sz="1795" dirty="0"/>
          </a:p>
        </p:txBody>
      </p:sp>
      <p:sp>
        <p:nvSpPr>
          <p:cNvPr id="9" name="Text 6"/>
          <p:cNvSpPr txBox="1"/>
          <p:nvPr/>
        </p:nvSpPr>
        <p:spPr>
          <a:xfrm>
            <a:off x="1647862" y="2419350"/>
            <a:ext cx="1197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APROBADO</a:t>
            </a:r>
            <a:endParaRPr lang="en-US" sz="1795" dirty="0"/>
          </a:p>
        </p:txBody>
      </p:sp>
      <p:sp>
        <p:nvSpPr>
          <p:cNvPr id="10" name="Shape 7"/>
          <p:cNvSpPr/>
          <p:nvPr/>
        </p:nvSpPr>
        <p:spPr>
          <a:xfrm>
            <a:off x="4239608" y="1263650"/>
            <a:ext cx="3682304" cy="1562100"/>
          </a:xfrm>
          <a:prstGeom prst="roundRect">
            <a:avLst>
              <a:gd name="adj" fmla="val 3807"/>
            </a:avLst>
          </a:prstGeom>
          <a:solidFill>
            <a:srgbClr val="22243A"/>
          </a:solidFill>
          <a:ln w="12668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41409" y="1428750"/>
            <a:ext cx="278702" cy="2794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29215" y="1809750"/>
            <a:ext cx="95011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6C6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 2</a:t>
            </a:r>
            <a:endParaRPr lang="en-US" sz="1496" dirty="0"/>
          </a:p>
        </p:txBody>
      </p:sp>
      <p:sp>
        <p:nvSpPr>
          <p:cNvPr id="13" name="Text 9"/>
          <p:cNvSpPr txBox="1"/>
          <p:nvPr/>
        </p:nvSpPr>
        <p:spPr>
          <a:xfrm>
            <a:off x="5288994" y="2089150"/>
            <a:ext cx="19049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Gestión de Citas</a:t>
            </a:r>
            <a:endParaRPr lang="en-US" sz="1795" dirty="0"/>
          </a:p>
        </p:txBody>
      </p:sp>
      <p:sp>
        <p:nvSpPr>
          <p:cNvPr id="14" name="Text 10"/>
          <p:cNvSpPr txBox="1"/>
          <p:nvPr/>
        </p:nvSpPr>
        <p:spPr>
          <a:xfrm>
            <a:off x="5482185" y="2419350"/>
            <a:ext cx="1197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APROBADO</a:t>
            </a:r>
            <a:endParaRPr lang="en-US" sz="1795" dirty="0"/>
          </a:p>
        </p:txBody>
      </p:sp>
      <p:sp>
        <p:nvSpPr>
          <p:cNvPr id="15" name="Shape 11"/>
          <p:cNvSpPr/>
          <p:nvPr/>
        </p:nvSpPr>
        <p:spPr>
          <a:xfrm>
            <a:off x="8073931" y="1263650"/>
            <a:ext cx="3682205" cy="1562100"/>
          </a:xfrm>
          <a:prstGeom prst="roundRect">
            <a:avLst>
              <a:gd name="adj" fmla="val 3807"/>
            </a:avLst>
          </a:prstGeom>
          <a:solidFill>
            <a:srgbClr val="22243A"/>
          </a:solidFill>
          <a:ln w="12668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775633" y="1428750"/>
            <a:ext cx="278702" cy="2794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563439" y="1784350"/>
            <a:ext cx="9501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6C6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 3</a:t>
            </a:r>
            <a:endParaRPr lang="en-US" sz="1496" dirty="0"/>
          </a:p>
        </p:txBody>
      </p:sp>
      <p:sp>
        <p:nvSpPr>
          <p:cNvPr id="18" name="Text 13"/>
          <p:cNvSpPr txBox="1"/>
          <p:nvPr/>
        </p:nvSpPr>
        <p:spPr>
          <a:xfrm>
            <a:off x="9221397" y="2089150"/>
            <a:ext cx="138717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Responsividad</a:t>
            </a:r>
            <a:endParaRPr lang="en-US" sz="1795" dirty="0"/>
          </a:p>
        </p:txBody>
      </p:sp>
      <p:sp>
        <p:nvSpPr>
          <p:cNvPr id="19" name="Text 14"/>
          <p:cNvSpPr txBox="1"/>
          <p:nvPr/>
        </p:nvSpPr>
        <p:spPr>
          <a:xfrm>
            <a:off x="9408254" y="2393950"/>
            <a:ext cx="129216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APROBADO</a:t>
            </a:r>
            <a:endParaRPr lang="en-US" sz="1795" dirty="0"/>
          </a:p>
        </p:txBody>
      </p:sp>
      <p:sp>
        <p:nvSpPr>
          <p:cNvPr id="20" name="Shape 15"/>
          <p:cNvSpPr/>
          <p:nvPr/>
        </p:nvSpPr>
        <p:spPr>
          <a:xfrm>
            <a:off x="405384" y="2978150"/>
            <a:ext cx="6719220" cy="3289300"/>
          </a:xfrm>
          <a:prstGeom prst="roundRect">
            <a:avLst>
              <a:gd name="adj" fmla="val 859"/>
            </a:avLst>
          </a:prstGeom>
          <a:solidFill>
            <a:srgbClr val="1E223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6"/>
          <p:cNvSpPr txBox="1"/>
          <p:nvPr/>
        </p:nvSpPr>
        <p:spPr>
          <a:xfrm>
            <a:off x="633413" y="3181350"/>
            <a:ext cx="628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Lo que logramos</a:t>
            </a:r>
            <a:endParaRPr lang="en-US" sz="1795" dirty="0"/>
          </a:p>
        </p:txBody>
      </p:sp>
      <p:sp>
        <p:nvSpPr>
          <p:cNvPr id="22" name="Shape 17"/>
          <p:cNvSpPr/>
          <p:nvPr/>
        </p:nvSpPr>
        <p:spPr>
          <a:xfrm>
            <a:off x="633413" y="3460750"/>
            <a:ext cx="506730" cy="1905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3413" y="3657600"/>
            <a:ext cx="228029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2787" y="3657600"/>
            <a:ext cx="40791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+ Azure SQL: arquitectura sólida y escalable</a:t>
            </a:r>
            <a:endParaRPr lang="en-US" sz="1496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3413" y="4186238"/>
            <a:ext cx="228029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2787" y="4186238"/>
            <a:ext cx="42501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garantiza acceso exclusivo al personal autorizado</a:t>
            </a:r>
            <a:endParaRPr lang="en-US" sz="1496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33413" y="4826389"/>
            <a:ext cx="228029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62787" y="4826389"/>
            <a:ext cx="44402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Operaciones críticas en tiempo real sin pérdida de datos</a:t>
            </a:r>
            <a:endParaRPr lang="en-US" sz="1496" dirty="0"/>
          </a:p>
        </p:txBody>
      </p:sp>
      <p:sp>
        <p:nvSpPr>
          <p:cNvPr id="29" name="Shape 21"/>
          <p:cNvSpPr/>
          <p:nvPr/>
        </p:nvSpPr>
        <p:spPr>
          <a:xfrm>
            <a:off x="7276623" y="2978150"/>
            <a:ext cx="4479513" cy="3289300"/>
          </a:xfrm>
          <a:prstGeom prst="roundRect">
            <a:avLst>
              <a:gd name="adj" fmla="val 859"/>
            </a:avLst>
          </a:prstGeom>
          <a:solidFill>
            <a:srgbClr val="22243A"/>
          </a:solidFill>
          <a:ln w="19002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38975" y="3906838"/>
            <a:ext cx="354711" cy="355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479315" y="4414838"/>
            <a:ext cx="4074129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i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Una herramienta funcional que optimiza el tiempo, profesionaliza la atención y abre la puerta a futuras expansiones.</a:t>
            </a:r>
            <a:endParaRPr lang="en-US" sz="1795" dirty="0"/>
          </a:p>
        </p:txBody>
      </p:sp>
      <p:sp>
        <p:nvSpPr>
          <p:cNvPr id="32" name="Shape 23"/>
          <p:cNvSpPr/>
          <p:nvPr/>
        </p:nvSpPr>
        <p:spPr>
          <a:xfrm>
            <a:off x="0" y="6369050"/>
            <a:ext cx="12161520" cy="488950"/>
          </a:xfrm>
          <a:prstGeom prst="rect">
            <a:avLst/>
          </a:prstGeom>
          <a:noFill/>
          <a:ln w="6334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24"/>
          <p:cNvSpPr txBox="1"/>
          <p:nvPr/>
        </p:nvSpPr>
        <p:spPr>
          <a:xfrm>
            <a:off x="405384" y="6489700"/>
            <a:ext cx="39240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RESULTADOS Y CONCLUSIONES</a:t>
            </a:r>
            <a:endParaRPr lang="en-US" sz="149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620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30721" y="482600"/>
            <a:ext cx="289469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93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Recomendaciones</a:t>
            </a:r>
            <a:endParaRPr lang="en-US" sz="2993" dirty="0"/>
          </a:p>
        </p:txBody>
      </p:sp>
      <p:sp>
        <p:nvSpPr>
          <p:cNvPr id="5" name="Shape 3"/>
          <p:cNvSpPr/>
          <p:nvPr/>
        </p:nvSpPr>
        <p:spPr>
          <a:xfrm>
            <a:off x="405384" y="1263650"/>
            <a:ext cx="5675376" cy="500380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405384" y="1263650"/>
            <a:ext cx="5460016" cy="2425700"/>
          </a:xfrm>
          <a:prstGeom prst="roundRect">
            <a:avLst>
              <a:gd name="adj" fmla="val 1579"/>
            </a:avLst>
          </a:prstGeom>
          <a:solidFill>
            <a:srgbClr val="1E223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3413" y="1466850"/>
            <a:ext cx="253365" cy="254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88124" y="1466850"/>
            <a:ext cx="2077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Seguridad y Respaldo</a:t>
            </a:r>
            <a:endParaRPr lang="en-US" sz="1795" dirty="0"/>
          </a:p>
        </p:txBody>
      </p:sp>
      <p:sp>
        <p:nvSpPr>
          <p:cNvPr id="9" name="Text 6"/>
          <p:cNvSpPr txBox="1"/>
          <p:nvPr/>
        </p:nvSpPr>
        <p:spPr>
          <a:xfrm>
            <a:off x="633413" y="2282631"/>
            <a:ext cx="502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Implementar Refresh Tokens y respaldos automáticos en Azure SQL para garantizar la integridad ante cualquier eventualidad.</a:t>
            </a:r>
            <a:endParaRPr lang="en-US" sz="1496" dirty="0"/>
          </a:p>
        </p:txBody>
      </p:sp>
      <p:sp>
        <p:nvSpPr>
          <p:cNvPr id="10" name="Shape 7"/>
          <p:cNvSpPr/>
          <p:nvPr/>
        </p:nvSpPr>
        <p:spPr>
          <a:xfrm>
            <a:off x="405384" y="3841750"/>
            <a:ext cx="5460016" cy="2425700"/>
          </a:xfrm>
          <a:prstGeom prst="roundRect">
            <a:avLst>
              <a:gd name="adj" fmla="val 1579"/>
            </a:avLst>
          </a:prstGeom>
          <a:solidFill>
            <a:srgbClr val="1E223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3413" y="4044950"/>
            <a:ext cx="253365" cy="2540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88124" y="4044950"/>
            <a:ext cx="192557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Optimización de UX</a:t>
            </a:r>
            <a:endParaRPr lang="en-US" sz="1795" dirty="0"/>
          </a:p>
        </p:txBody>
      </p:sp>
      <p:sp>
        <p:nvSpPr>
          <p:cNvPr id="13" name="Text 9"/>
          <p:cNvSpPr txBox="1"/>
          <p:nvPr/>
        </p:nvSpPr>
        <p:spPr>
          <a:xfrm>
            <a:off x="620744" y="4612562"/>
            <a:ext cx="502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Recordatorios automáticos por correo e historial de servicios personalizado para fidelizar al cliente.</a:t>
            </a:r>
            <a:endParaRPr lang="en-US" sz="1496" dirty="0"/>
          </a:p>
        </p:txBody>
      </p:sp>
      <p:sp>
        <p:nvSpPr>
          <p:cNvPr id="14" name="Shape 10"/>
          <p:cNvSpPr/>
          <p:nvPr/>
        </p:nvSpPr>
        <p:spPr>
          <a:xfrm>
            <a:off x="6283452" y="1263650"/>
            <a:ext cx="5472684" cy="1566267"/>
          </a:xfrm>
          <a:prstGeom prst="roundRect">
            <a:avLst>
              <a:gd name="adj" fmla="val 3787"/>
            </a:avLst>
          </a:prstGeom>
          <a:solidFill>
            <a:srgbClr val="22243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86144" y="1454150"/>
            <a:ext cx="228029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15519" y="1441450"/>
            <a:ext cx="19319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Calidad de Software</a:t>
            </a:r>
            <a:endParaRPr lang="en-US" sz="1795" dirty="0"/>
          </a:p>
        </p:txBody>
      </p:sp>
      <p:sp>
        <p:nvSpPr>
          <p:cNvPr id="17" name="Text 12"/>
          <p:cNvSpPr txBox="1"/>
          <p:nvPr/>
        </p:nvSpPr>
        <p:spPr>
          <a:xfrm>
            <a:off x="6486144" y="1771650"/>
            <a:ext cx="50926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Adoptar pruebas automatizadas (unitarias e integración) para escalar sin comprometer la estabilidad.</a:t>
            </a:r>
            <a:endParaRPr lang="en-US" sz="1496" dirty="0"/>
          </a:p>
        </p:txBody>
      </p:sp>
      <p:sp>
        <p:nvSpPr>
          <p:cNvPr id="18" name="Shape 13"/>
          <p:cNvSpPr/>
          <p:nvPr/>
        </p:nvSpPr>
        <p:spPr>
          <a:xfrm>
            <a:off x="6283452" y="2982317"/>
            <a:ext cx="5472684" cy="1566366"/>
          </a:xfrm>
          <a:prstGeom prst="roundRect">
            <a:avLst>
              <a:gd name="adj" fmla="val 3787"/>
            </a:avLst>
          </a:prstGeom>
          <a:solidFill>
            <a:srgbClr val="22243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86144" y="3172817"/>
            <a:ext cx="228029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24850" y="3144038"/>
            <a:ext cx="20585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Escalabilidad Técnica</a:t>
            </a:r>
            <a:endParaRPr lang="en-US" sz="1795" dirty="0"/>
          </a:p>
        </p:txBody>
      </p:sp>
      <p:sp>
        <p:nvSpPr>
          <p:cNvPr id="21" name="Text 15"/>
          <p:cNvSpPr txBox="1"/>
          <p:nvPr/>
        </p:nvSpPr>
        <p:spPr>
          <a:xfrm>
            <a:off x="6486144" y="3490317"/>
            <a:ext cx="50926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Migrar imágenes a Azure Blob Storage para evitar saturar la base de datos y mantener consultas rápidas.</a:t>
            </a:r>
            <a:endParaRPr lang="en-US" sz="1496" dirty="0"/>
          </a:p>
        </p:txBody>
      </p:sp>
      <p:sp>
        <p:nvSpPr>
          <p:cNvPr id="22" name="Shape 16"/>
          <p:cNvSpPr/>
          <p:nvPr/>
        </p:nvSpPr>
        <p:spPr>
          <a:xfrm>
            <a:off x="6283452" y="4701084"/>
            <a:ext cx="5472684" cy="1566366"/>
          </a:xfrm>
          <a:prstGeom prst="roundRect">
            <a:avLst>
              <a:gd name="adj" fmla="val 3787"/>
            </a:avLst>
          </a:prstGeom>
          <a:solidFill>
            <a:srgbClr val="22243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86144" y="4891584"/>
            <a:ext cx="228029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815519" y="4878884"/>
            <a:ext cx="165954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EAEAEA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Análisis de Datos</a:t>
            </a:r>
            <a:endParaRPr lang="en-US" sz="1795" dirty="0"/>
          </a:p>
        </p:txBody>
      </p:sp>
      <p:sp>
        <p:nvSpPr>
          <p:cNvPr id="25" name="Text 18"/>
          <p:cNvSpPr txBox="1"/>
          <p:nvPr/>
        </p:nvSpPr>
        <p:spPr>
          <a:xfrm>
            <a:off x="6486144" y="5209084"/>
            <a:ext cx="50926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los registros del sistema para identificar horas pico y tomar decisiones basadas en datos reales.</a:t>
            </a:r>
            <a:endParaRPr lang="en-US" sz="1496" dirty="0"/>
          </a:p>
        </p:txBody>
      </p:sp>
      <p:sp>
        <p:nvSpPr>
          <p:cNvPr id="26" name="Shape 19"/>
          <p:cNvSpPr/>
          <p:nvPr/>
        </p:nvSpPr>
        <p:spPr>
          <a:xfrm>
            <a:off x="0" y="6369050"/>
            <a:ext cx="12161520" cy="488950"/>
          </a:xfrm>
          <a:prstGeom prst="rect">
            <a:avLst/>
          </a:prstGeom>
          <a:noFill/>
          <a:ln w="6334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0"/>
          <p:cNvSpPr txBox="1"/>
          <p:nvPr/>
        </p:nvSpPr>
        <p:spPr>
          <a:xfrm>
            <a:off x="405384" y="6502400"/>
            <a:ext cx="17482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 err="1">
                <a:solidFill>
                  <a:srgbClr val="F5A623"/>
                </a:solidFill>
                <a:latin typeface="Rokkitt" pitchFamily="34" charset="0"/>
                <a:ea typeface="Rokkitt" pitchFamily="34" charset="-122"/>
                <a:cs typeface="Rokkitt" pitchFamily="34" charset="-120"/>
              </a:rPr>
              <a:t>Recomendaciones</a:t>
            </a:r>
            <a:endParaRPr lang="en-US" sz="14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522</Words>
  <Application>Microsoft Office PowerPoint</Application>
  <PresentationFormat>Panorámica</PresentationFormat>
  <Paragraphs>100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Rokkitt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Julio Axel Delgado Rivera</cp:lastModifiedBy>
  <cp:revision>1</cp:revision>
  <dcterms:created xsi:type="dcterms:W3CDTF">2026-03-26T11:13:41Z</dcterms:created>
  <dcterms:modified xsi:type="dcterms:W3CDTF">2026-03-26T11:28:05Z</dcterms:modified>
</cp:coreProperties>
</file>